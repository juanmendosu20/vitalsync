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</a:rPr>
              <a:t>INGENIERÍA DE SOFTWARE 2  ·  UNIVERSIDAD EL BOSQUE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VitalSync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20040" y="18745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48CAE4"/>
                </a:solidFill>
              </a:rPr>
              <a:t>Sistema de Coordinación Prehospitalaria en Tiempo Real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487168"/>
            <a:ext cx="365760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606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F7FF"/>
                </a:solidFill>
              </a:rPr>
              <a:t>Juan Sebastián Morales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9443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F7FF"/>
                </a:solidFill>
              </a:rPr>
              <a:t>Jose Manuel Suárez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328269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F7FF"/>
                </a:solidFill>
              </a:rPr>
              <a:t>Juan Diego Mendoza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4526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5"/>
                </a:solidFill>
              </a:rPr>
              <a:t>Mayo 2026  ·  MVP v1.0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097280"/>
            <a:ext cx="1097280" cy="109728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560320"/>
            <a:ext cx="1097280" cy="10972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949440" y="2194560"/>
            <a:ext cx="1143000" cy="640080"/>
          </a:xfrm>
          <a:prstGeom prst="line">
            <a:avLst/>
          </a:prstGeom>
          <a:noFill/>
          <a:ln w="25400">
            <a:solidFill>
              <a:srgbClr val="00B4D8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6492240" y="4114800"/>
            <a:ext cx="2286000" cy="411480"/>
          </a:xfrm>
          <a:prstGeom prst="roundRect">
            <a:avLst>
              <a:gd name="adj" fmla="val 22222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92240" y="4114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● LIVE  vitalsync.mendoza-juan.online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El Problema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2651760" cy="34747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18872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19202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8CAE4"/>
                </a:solidFill>
              </a:rPr>
              <a:t>El agujero negro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48CAE4"/>
                </a:solidFill>
              </a:rPr>
              <a:t>del traslado médico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743200"/>
            <a:ext cx="201168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28346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5"/>
                </a:solidFill>
              </a:rPr>
              <a:t>La sala de urgencias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9BB5"/>
                </a:solidFill>
              </a:rPr>
              <a:t>no sabe NADA 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9BB5"/>
                </a:solidFill>
              </a:rPr>
              <a:t>paciente hasta que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9BB5"/>
                </a:solidFill>
              </a:rPr>
              <a:t>llega la ambulancia.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1005840"/>
            <a:ext cx="55778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1430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1920" y="105156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Comunicación solo por radio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931920" y="135331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</a:rPr>
              <a:t>Sobrecarga cognitiva para el paramédico en campo.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246120" y="1847088"/>
            <a:ext cx="55778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984248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931920" y="189280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Sin hora estimada de llegada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931920" y="219456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</a:rPr>
              <a:t>Urgencias no puede anticipar recursos ni camas.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3246120" y="2688336"/>
            <a:ext cx="55778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2825496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931920" y="273405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Pérdida de señal celular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3931920" y="303580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</a:rPr>
              <a:t>Zonas sin cobertura cortan toda transmisión de datos.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3246120" y="3529584"/>
            <a:ext cx="55778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666744"/>
            <a:ext cx="411480" cy="4114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931920" y="357530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HIS legacy: máx. 2 req/seg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3931920" y="387705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</a:rPr>
              <a:t>El sistema hospitalario no tolera carga de datos.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3246120" y="4462272"/>
            <a:ext cx="5577840" cy="384048"/>
          </a:xfrm>
          <a:prstGeom prst="roundRect">
            <a:avLst>
              <a:gd name="adj" fmla="val 19048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3246120" y="4462272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Restricción crítica: presupuesto de infraestructura = $0  →  solo Free Tier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Objetivo Arquitectónico y Restricciones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914400"/>
          </a:xfrm>
          <a:prstGeom prst="rect">
            <a:avLst/>
          </a:prstGeom>
          <a:solidFill>
            <a:srgbClr val="0A1628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0584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🎯  Garantizar que los signos vitales y el triage del paciente lleguen al hospital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antes de que llegue la ambulancia — incluso sin señal celular.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0040" y="20574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42316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214884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PRESUPUESTO_CERO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05840" y="251460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</a:rPr>
              <a:t>Toda la infraestructura opera en capa gratuita de servicios cloud.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63440" y="20574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4231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214884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ARQUITECTURA_DESACOPLADA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349240" y="251460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</a:rPr>
              <a:t>Frontend móvil, dashboard web y backend completamente independientes.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20040" y="34290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79476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5840" y="352044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OFFLINE_FIRST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005840" y="388620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</a:rPr>
              <a:t>La app funciona sin red. Sincroniza automáticamente al recuperar señal.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663440" y="34290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79476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49240" y="352044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HIS_RATE_LIMIT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5349240" y="388620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</a:rPr>
              <a:t>Máximo 2 req/seg al sistema hospitalario legacy. Circuit Breaker obligatorio.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Decisiones Arquitectónicas (ADRs)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1005840"/>
          </a:xfrm>
          <a:prstGeom prst="rect">
            <a:avLst/>
          </a:prstGeom>
          <a:solidFill>
            <a:srgbClr val="0D2240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228600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005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ADR-001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58368" y="119786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Offline-First + Sync Automático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143560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</a:rPr>
              <a:t>Decisión: WatermelonDB local → Background Sync cuando recupera señal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1655064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</a:rPr>
              <a:t>Por qué: La pérdida de red no puede detener el registro clínico. Dato local primero.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130552"/>
            <a:ext cx="8503920" cy="1005840"/>
          </a:xfrm>
          <a:prstGeom prst="rect">
            <a:avLst/>
          </a:prstGeom>
          <a:solidFill>
            <a:srgbClr val="0D2240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130552"/>
            <a:ext cx="228600" cy="10058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1762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ADR-002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58368" y="236829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Cola Asíncrona + Circuit Breaker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26060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</a:rPr>
              <a:t>Decisión: Queue HIS a 2 req/seg · Estados: CLOSED → OPEN → HALF-OPEN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" y="2825496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</a:rPr>
              <a:t>Por qué: El HIS legacy colapsa sin protección. El patrón absorbe picos y auto-recupera.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300984"/>
            <a:ext cx="8503920" cy="1005840"/>
          </a:xfrm>
          <a:prstGeom prst="rect">
            <a:avLst/>
          </a:prstGeom>
          <a:solidFill>
            <a:srgbClr val="0D2240"/>
          </a:solidFill>
          <a:ln w="25400">
            <a:solidFill>
              <a:srgbClr val="48CA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300984"/>
            <a:ext cx="228600" cy="100584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34670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ADR-003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58368" y="353872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Arquitectura Hexagonal + Capas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" y="3776472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</a:rPr>
              <a:t>Decisión: Dominio aislado de infraestructura via puertos y adaptadores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" y="399592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</a:rPr>
              <a:t>Por qué: Permite intercambiar Supabase por otro BaaS sin tocar la lógica de negocio.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45445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</a:rPr>
              <a:t>Stack: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05840" y="4526280"/>
            <a:ext cx="1261872" cy="320040"/>
          </a:xfrm>
          <a:prstGeom prst="roundRect">
            <a:avLst>
              <a:gd name="adj" fmla="val 20000"/>
            </a:avLst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4526280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CAE4"/>
                </a:solidFill>
              </a:rPr>
              <a:t>Supabase Realtime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350008" y="4526280"/>
            <a:ext cx="1261872" cy="320040"/>
          </a:xfrm>
          <a:prstGeom prst="roundRect">
            <a:avLst>
              <a:gd name="adj" fmla="val 20000"/>
            </a:avLst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50008" y="4526280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CAE4"/>
                </a:solidFill>
              </a:rPr>
              <a:t>Edge Functions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94176" y="4526280"/>
            <a:ext cx="1261872" cy="320040"/>
          </a:xfrm>
          <a:prstGeom prst="roundRect">
            <a:avLst>
              <a:gd name="adj" fmla="val 20000"/>
            </a:avLst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94176" y="4526280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CAE4"/>
                </a:solidFill>
              </a:rPr>
              <a:t>PostgreSQL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38344" y="4526280"/>
            <a:ext cx="1261872" cy="320040"/>
          </a:xfrm>
          <a:prstGeom prst="roundRect">
            <a:avLst>
              <a:gd name="adj" fmla="val 20000"/>
            </a:avLst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38344" y="4526280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CAE4"/>
                </a:solidFill>
              </a:rPr>
              <a:t>WatermelonDB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82512" y="4526280"/>
            <a:ext cx="1261872" cy="320040"/>
          </a:xfrm>
          <a:prstGeom prst="roundRect">
            <a:avLst>
              <a:gd name="adj" fmla="val 20000"/>
            </a:avLst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4526280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CAE4"/>
                </a:solidFill>
              </a:rPr>
              <a:t>Vercel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726680" y="4526280"/>
            <a:ext cx="1261872" cy="320040"/>
          </a:xfrm>
          <a:prstGeom prst="roundRect">
            <a:avLst>
              <a:gd name="adj" fmla="val 20000"/>
            </a:avLst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26680" y="4526280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CAE4"/>
                </a:solidFill>
              </a:rPr>
              <a:t>React Native / Expo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Topología del Sistema Serverless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834640" cy="3429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0058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CLIENT_EDGE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(Zona Móvil)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508760"/>
            <a:ext cx="283464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005840"/>
            <a:ext cx="2834640" cy="3429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0058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CLOUD_BACKEND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(Supabase)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508760"/>
            <a:ext cx="2834640" cy="0"/>
          </a:xfrm>
          <a:prstGeom prst="line">
            <a:avLst/>
          </a:prstGeom>
          <a:noFill/>
          <a:ln w="12700">
            <a:solidFill>
              <a:srgbClr val="F4A2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005840"/>
            <a:ext cx="2834640" cy="3429000"/>
          </a:xfrm>
          <a:prstGeom prst="rect">
            <a:avLst/>
          </a:prstGeom>
          <a:solidFill>
            <a:srgbClr val="FFFFFF"/>
          </a:solidFill>
          <a:ln w="25400">
            <a:solidFill>
              <a:srgbClr val="48CA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0058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HOSPITAL_NODE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(Dashboard)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0" y="1508760"/>
            <a:ext cx="2834640" cy="0"/>
          </a:xfrm>
          <a:prstGeom prst="line">
            <a:avLst/>
          </a:prstGeom>
          <a:noFill/>
          <a:ln w="12700">
            <a:solidFill>
              <a:srgbClr val="48CAE4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00200"/>
            <a:ext cx="502920" cy="5029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43000" y="1645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App React Native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+ Expo</a:t>
            </a:r>
            <a:endParaRPr lang="en-US" sz="10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33172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43000" y="2377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</a:rPr>
              <a:t>WatermelonDB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</a:rPr>
              <a:t>(Local Storage)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429000" y="1645920"/>
            <a:ext cx="2377440" cy="502920"/>
          </a:xfrm>
          <a:prstGeom prst="roundRect">
            <a:avLst>
              <a:gd name="adj" fmla="val 12727"/>
            </a:avLst>
          </a:prstGeom>
          <a:solidFill>
            <a:srgbClr val="EBF3FF"/>
          </a:solidFill>
          <a:ln w="12700">
            <a:solidFill>
              <a:srgbClr val="C8DCE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429000" y="16459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PostgreSQL (Supabase)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429000" y="2331720"/>
            <a:ext cx="2377440" cy="502920"/>
          </a:xfrm>
          <a:prstGeom prst="roundRect">
            <a:avLst>
              <a:gd name="adj" fmla="val 12727"/>
            </a:avLst>
          </a:prstGeom>
          <a:solidFill>
            <a:srgbClr val="EBF3FF"/>
          </a:solidFill>
          <a:ln w="12700">
            <a:solidFill>
              <a:srgbClr val="C8DCE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429000" y="23317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Edge Functions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(Circuit Breaker + HIS Queue)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429000" y="3017520"/>
            <a:ext cx="2377440" cy="502920"/>
          </a:xfrm>
          <a:prstGeom prst="roundRect">
            <a:avLst>
              <a:gd name="adj" fmla="val 12727"/>
            </a:avLst>
          </a:prstGeom>
          <a:solidFill>
            <a:srgbClr val="EBF3FF"/>
          </a:solidFill>
          <a:ln w="12700">
            <a:solidFill>
              <a:srgbClr val="C8DCE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42900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Realtime (WebSockets)</a:t>
            </a:r>
            <a:endParaRPr lang="en-US" sz="10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600200"/>
            <a:ext cx="502920" cy="5029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132320" y="1645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Dashboard Web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(React / Vite)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583680" y="2331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</a:rPr>
              <a:t>Alojado en Vercel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</a:rPr>
              <a:t>(Free Tier)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3063240" y="1874520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274320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B4D8"/>
                </a:solidFill>
              </a:rPr>
              <a:t>API REST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B4D8"/>
                </a:solidFill>
              </a:rPr>
              <a:t>Realtime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6080760" y="2331720"/>
            <a:ext cx="22860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989320" y="2212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4A261"/>
                </a:solidFill>
              </a:rPr>
              <a:t>WebSocket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4A261"/>
                </a:solidFill>
              </a:rPr>
              <a:t>Stream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228600" y="4617720"/>
            <a:ext cx="8686800" cy="32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320040" y="46177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8CAE4"/>
                </a:solidFill>
              </a:rPr>
              <a:t>Evento: Triage ROJO  →  Edge Function detecta  →  Alerta visual + SMS automático en urgencias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Atributos de Calidad y Trade-offs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384048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  <a:gridCol w="2743200"/>
                <a:gridCol w="246888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Escenario crítico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Táctica implementada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 aceptado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Disponibilidad 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Ambulancia pierde señal en túnel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Offline-First: WatermelonDB + Background Sync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Complejidad de sincronización y conflictos de datos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Rendimiento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Múltiples triage simultáneos en urgencias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Event-driven vía Supabase Realtime (WebSocket)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Tier: límite de conexiones concurrentes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Modificabilidad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Actualizar dashboard sin afectar app móvil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Separación total: React Native vs React/Vite + APIs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Duplicación de tipos y contratos entre capas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clínicos sensibles en tránsito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Anonimización HMAC-SHA256, auth delegada al backend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Latencia extra por procesamiento criptográfico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6FA5"/>
                </a:solidFill>
              </a:rPr>
              <a:t>★ Disponibilidad es el atributo priorizado — el sistema no puede fallar en campo.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Demo · Dashboard Hospitalario en Tiempo Real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8CAE4"/>
                </a:solidFill>
              </a:rPr>
              <a:t>vitalsync.mendoza-juan.online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685800"/>
          </a:xfrm>
          <a:prstGeom prst="rect">
            <a:avLst/>
          </a:prstGeom>
          <a:solidFill>
            <a:srgbClr val="0D2240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88720"/>
            <a:ext cx="411480" cy="411480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10972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Abrir el dashboard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39903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</a:rPr>
              <a:t>Mostrar mapa con ambulancias activas y estados de triage en tiempo real.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847088"/>
            <a:ext cx="8503920" cy="685800"/>
          </a:xfrm>
          <a:prstGeom prst="rect">
            <a:avLst/>
          </a:prstGeom>
          <a:solidFill>
            <a:srgbClr val="0A1A35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984248"/>
            <a:ext cx="411480" cy="411480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842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189280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Triage Amarillo (Urgente)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1945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</a:rPr>
              <a:t>Crear paciente desde la app móvil — el dashboard se actualiza &lt; 3 seg sin recargar.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642616"/>
            <a:ext cx="8503920" cy="685800"/>
          </a:xfrm>
          <a:prstGeom prst="rect">
            <a:avLst/>
          </a:prstGeom>
          <a:solidFill>
            <a:srgbClr val="0D2240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779776"/>
            <a:ext cx="411480" cy="411480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7797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268833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Triage Rojo (Crítico)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299008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</a:rPr>
              <a:t>Cambiar a ROJO — activar alerta visual/sonora emergente y SMS automático.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438144"/>
            <a:ext cx="8503920" cy="685800"/>
          </a:xfrm>
          <a:prstGeom prst="rect">
            <a:avLst/>
          </a:prstGeom>
          <a:solidFill>
            <a:srgbClr val="0A1A35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575304"/>
            <a:ext cx="411480" cy="411480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5753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0120" y="348386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Circuit Breaker en acción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378561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</a:rPr>
              <a:t>Saturar el HIS — mostrar cómo la cola absorbe la carga y el breaker abre/cierra.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4233672"/>
            <a:ext cx="8503920" cy="685800"/>
          </a:xfrm>
          <a:prstGeom prst="rect">
            <a:avLst/>
          </a:prstGeom>
          <a:solidFill>
            <a:srgbClr val="0D2240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4370832"/>
            <a:ext cx="411480" cy="411480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3708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60120" y="427939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Dashboard de métricas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" y="458114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</a:rPr>
              <a:t>Latencia promedio de eventos, uptime y estado del Circuit Breaker en vivo.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Demo · App Móvil Offline-First (Expo)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7863840" cy="54864"/>
          </a:xfrm>
          <a:prstGeom prst="rect">
            <a:avLst/>
          </a:prstGeom>
          <a:solidFill>
            <a:srgbClr val="C8DCEF"/>
          </a:solidFill>
          <a:ln w="12700">
            <a:solidFill>
              <a:srgbClr val="C8DC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097280"/>
            <a:ext cx="640080" cy="6400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4300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1. Conectado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14400" y="2542032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283464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5"/>
                </a:solidFill>
              </a:rPr>
              <a:t>App online. Paramédico registra signos vitales — dato va directo a Supabase.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039112" y="1005840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96312" y="1097280"/>
            <a:ext cx="640080" cy="6400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032" y="114300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084832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2. Sin señal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633472" y="2542032"/>
            <a:ext cx="182880" cy="1828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084832" y="283464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5"/>
                </a:solidFill>
              </a:rPr>
              <a:t>Modo offline activado. WatermelonDB guarda el triage localmente. Icono rojo.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758184" y="1005840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215384" y="109728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1143000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803904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3. Cola local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352544" y="2542032"/>
            <a:ext cx="182880" cy="1828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803904" y="283464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5"/>
                </a:solidFill>
              </a:rPr>
              <a:t>Se acumulan registros en la cola local. Cero fricción para el paramédico.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5477256" y="1005840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934456" y="1097280"/>
            <a:ext cx="640080" cy="640080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1143000"/>
            <a:ext cx="548640" cy="5486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522976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4. Red restaurada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071616" y="2542032"/>
            <a:ext cx="182880" cy="182880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522976" y="283464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5"/>
                </a:solidFill>
              </a:rPr>
              <a:t>Background Sync detecta conectividad y empuja datos encriptados a la nube.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7196328" y="1005840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7653528" y="1097280"/>
            <a:ext cx="640080" cy="640080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9248" y="1143000"/>
            <a:ext cx="548640" cy="54864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242048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5. Sincronizado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7790688" y="2542032"/>
            <a:ext cx="182880" cy="182880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7242048" y="283464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5"/>
                </a:solidFill>
              </a:rPr>
              <a:t>Dashboard hospitalario recibe todos los registros pendientes. Sin pérdida.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Resultados Obtenidos y Evidencias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51760" cy="1188720"/>
          </a:xfrm>
          <a:prstGeom prst="rect">
            <a:avLst/>
          </a:prstGeom>
          <a:solidFill>
            <a:srgbClr val="0A1628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515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</a:rPr>
              <a:t>&lt; 3s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" y="1645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5"/>
                </a:solidFill>
              </a:rPr>
              <a:t>Latencia alerta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9BB5"/>
                </a:solidFill>
              </a:rPr>
              <a:t>Triage ROJO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72968" y="1005840"/>
            <a:ext cx="2651760" cy="1188720"/>
          </a:xfrm>
          <a:prstGeom prst="rect">
            <a:avLst/>
          </a:prstGeom>
          <a:solidFill>
            <a:srgbClr val="0A1628"/>
          </a:solidFill>
          <a:ln w="25400">
            <a:solidFill>
              <a:srgbClr val="F4A2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72968" y="10515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A261"/>
                </a:solidFill>
              </a:rPr>
              <a:t>2 req/s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172968" y="1645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5"/>
                </a:solidFill>
              </a:rPr>
              <a:t>Rate limit HIS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9BB5"/>
                </a:solidFill>
              </a:rPr>
              <a:t>respetado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25896" y="1005840"/>
            <a:ext cx="2651760" cy="1188720"/>
          </a:xfrm>
          <a:prstGeom prst="rect">
            <a:avLst/>
          </a:prstGeom>
          <a:solidFill>
            <a:srgbClr val="0A1628"/>
          </a:solidFill>
          <a:ln w="25400">
            <a:solidFill>
              <a:srgbClr val="2DC65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25896" y="10515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C653"/>
                </a:solidFill>
              </a:rPr>
              <a:t>$0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025896" y="1645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5"/>
                </a:solidFill>
              </a:rPr>
              <a:t>Costo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9BB5"/>
                </a:solidFill>
              </a:rPr>
              <a:t>infraestructura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377440"/>
            <a:ext cx="8503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414016"/>
            <a:ext cx="347472" cy="34747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60120" y="2377440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</a:rPr>
              <a:t>GitHub: historial de commits con ramas feature/ y patrones implementados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20040" y="2907792"/>
            <a:ext cx="8503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44368"/>
            <a:ext cx="347472" cy="34747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60120" y="290779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</a:rPr>
              <a:t>Dashboard QAW: escenarios de disponibilidad y rendimiento con status OK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320040" y="3438144"/>
            <a:ext cx="8503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74720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60120" y="3438144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</a:rPr>
              <a:t>Deploy en Vercel activo: vitalsync.mendoza-juan.online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320040" y="3968496"/>
            <a:ext cx="8503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005072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60120" y="3968496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</a:rPr>
              <a:t>APK de Android generada desde Expo y ejecutada en dispositivo físico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320040" y="4498848"/>
            <a:ext cx="8503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535424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60120" y="4498848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</a:rPr>
              <a:t>Circuit Breaker probado: OPEN bajo carga y recuperación automática HALF-OPEN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Conclusiones Arquitectónicas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868680"/>
          </a:xfrm>
          <a:prstGeom prst="rect">
            <a:avLst/>
          </a:prstGeom>
          <a:solidFill>
            <a:srgbClr val="0D2240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8CAE4"/>
                </a:solidFill>
              </a:rPr>
              <a:t>"La arquitectura determina la supervivencia del sistema frente a fallos.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48CAE4"/>
                </a:solidFill>
              </a:rPr>
              <a:t>En contextos médicos, determina la supervivencia del paciente."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920240"/>
            <a:ext cx="4114800" cy="1188720"/>
          </a:xfrm>
          <a:prstGeom prst="rect">
            <a:avLst/>
          </a:prstGeom>
          <a:solidFill>
            <a:srgbClr val="0D2240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286000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19933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Ingeniería aplicada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35915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</a:rPr>
              <a:t>VitalSync traduce atributos QAW (no funcionales) en tácticas tangibles de código y arquitectura real.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3337560"/>
            <a:ext cx="4114800" cy="1188720"/>
          </a:xfrm>
          <a:prstGeom prst="rect">
            <a:avLst/>
          </a:prstGeom>
          <a:solidFill>
            <a:srgbClr val="0D2240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703320"/>
            <a:ext cx="457200" cy="4572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34107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</a:rPr>
              <a:t>Resiliencia por diseño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377647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</a:rPr>
              <a:t>Offline-First + Circuit Breaker resolvieron el reto central: alta disponibilidad sin infraestructura costosa.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920240"/>
            <a:ext cx="4114800" cy="1188720"/>
          </a:xfrm>
          <a:prstGeom prst="rect">
            <a:avLst/>
          </a:prstGeom>
          <a:solidFill>
            <a:srgbClr val="0D2240"/>
          </a:solidFill>
          <a:ln w="25400">
            <a:solidFill>
              <a:srgbClr val="48CA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2286000"/>
            <a:ext cx="457200" cy="457200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94960" y="19933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8CAE4"/>
                </a:solidFill>
              </a:rPr>
              <a:t>Restricciones como palanca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94960" y="235915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</a:rPr>
              <a:t>Operar con presupuesto $0 y HIS legacy obligó a decisiones más creativas y robustas que con recursos ilimitados.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3337560"/>
            <a:ext cx="4114800" cy="1188720"/>
          </a:xfrm>
          <a:prstGeom prst="rect">
            <a:avLst/>
          </a:prstGeom>
          <a:solidFill>
            <a:srgbClr val="0D2240"/>
          </a:solidFill>
          <a:ln w="25400">
            <a:solidFill>
              <a:srgbClr val="2DC65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3703320"/>
            <a:ext cx="457200" cy="457200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0" y="34107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</a:rPr>
              <a:t>Valor real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94960" y="377647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</a:rPr>
              <a:t>El MVP funcional demuestra que la teoría de IS2 puede transformarse en una solución crítica para el sector salud.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</a:rPr>
              <a:t>🔗  vitalsync.mendoza-juan.online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VitalSync - Sistema de Coordinación Prehospitalaria</dc:title>
  <dc:subject>PptxGenJS Presentation</dc:subject>
  <dc:creator>Juan S. Morales, Jose M. Suárez, Juan D. Mendoza</dc:creator>
  <cp:lastModifiedBy>Juan S. Morales, Jose M. Suárez, Juan D. Mendoza</cp:lastModifiedBy>
  <cp:revision>1</cp:revision>
  <dcterms:created xsi:type="dcterms:W3CDTF">2026-05-26T21:05:48Z</dcterms:created>
  <dcterms:modified xsi:type="dcterms:W3CDTF">2026-05-26T21:05:48Z</dcterms:modified>
</cp:coreProperties>
</file>